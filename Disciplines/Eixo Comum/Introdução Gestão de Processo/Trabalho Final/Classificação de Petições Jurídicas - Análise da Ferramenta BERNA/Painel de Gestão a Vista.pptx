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378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31/03/2025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2182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31/03/2025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3188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31/03/2025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2065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31/03/2025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434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31/03/2025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567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31/03/2025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609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31/03/2025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9356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31/03/2025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2162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31/03/2025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394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31/03/2025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38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31/03/2025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8477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1D377-BFA5-4D70-BE67-143E89075F0F}" type="datetimeFigureOut">
              <a:rPr lang="pt-BR" smtClean="0"/>
              <a:t>31/03/2025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0135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185737"/>
            <a:ext cx="11477625" cy="6486525"/>
          </a:xfrm>
          <a:prstGeom prst="rect">
            <a:avLst/>
          </a:prstGeom>
        </p:spPr>
      </p:pic>
      <p:sp>
        <p:nvSpPr>
          <p:cNvPr id="13" name="Rectangle 98">
            <a:extLst>
              <a:ext uri="{FF2B5EF4-FFF2-40B4-BE49-F238E27FC236}">
                <a16:creationId xmlns:a16="http://schemas.microsoft.com/office/drawing/2014/main" id="{15CADF5A-5DFE-9ED0-8BDB-484BC0D504BE}"/>
              </a:ext>
            </a:extLst>
          </p:cNvPr>
          <p:cNvSpPr/>
          <p:nvPr/>
        </p:nvSpPr>
        <p:spPr>
          <a:xfrm>
            <a:off x="1639130" y="765281"/>
            <a:ext cx="2082081" cy="514879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Classificação Automática de Textos Jurídicos (Separação de fatos, teses e ruídos).</a:t>
            </a:r>
          </a:p>
        </p:txBody>
      </p:sp>
      <p:sp>
        <p:nvSpPr>
          <p:cNvPr id="15" name="Rectangle 98">
            <a:extLst>
              <a:ext uri="{FF2B5EF4-FFF2-40B4-BE49-F238E27FC236}">
                <a16:creationId xmlns:a16="http://schemas.microsoft.com/office/drawing/2014/main" id="{B466C03D-C5AA-2B16-72B7-74F1E8E531AB}"/>
              </a:ext>
            </a:extLst>
          </p:cNvPr>
          <p:cNvSpPr/>
          <p:nvPr/>
        </p:nvSpPr>
        <p:spPr>
          <a:xfrm>
            <a:off x="5760110" y="765281"/>
            <a:ext cx="1462780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Maior precisão nas decisões judiciais pela redução de erros.</a:t>
            </a:r>
          </a:p>
        </p:txBody>
      </p:sp>
      <p:sp>
        <p:nvSpPr>
          <p:cNvPr id="19" name="Rectangle 98">
            <a:extLst>
              <a:ext uri="{FF2B5EF4-FFF2-40B4-BE49-F238E27FC236}">
                <a16:creationId xmlns:a16="http://schemas.microsoft.com/office/drawing/2014/main" id="{7AF7A947-10B8-0DE6-B2BC-6AD350DA762D}"/>
              </a:ext>
            </a:extLst>
          </p:cNvPr>
          <p:cNvSpPr/>
          <p:nvPr/>
        </p:nvSpPr>
        <p:spPr>
          <a:xfrm>
            <a:off x="7809733" y="765281"/>
            <a:ext cx="1462780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Redução de tempo gasto pelos servidores na classificação manual.</a:t>
            </a:r>
          </a:p>
        </p:txBody>
      </p:sp>
      <p:sp>
        <p:nvSpPr>
          <p:cNvPr id="20" name="Rectangle 98">
            <a:extLst>
              <a:ext uri="{FF2B5EF4-FFF2-40B4-BE49-F238E27FC236}">
                <a16:creationId xmlns:a16="http://schemas.microsoft.com/office/drawing/2014/main" id="{B5F43523-8A0A-6B85-C52A-4A4C43250C07}"/>
              </a:ext>
            </a:extLst>
          </p:cNvPr>
          <p:cNvSpPr/>
          <p:nvPr/>
        </p:nvSpPr>
        <p:spPr>
          <a:xfrm>
            <a:off x="9859356" y="758954"/>
            <a:ext cx="1462780" cy="752632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Aumento de produtividade, permitindo maior volume de análises diárias.</a:t>
            </a:r>
          </a:p>
        </p:txBody>
      </p:sp>
      <p:sp>
        <p:nvSpPr>
          <p:cNvPr id="22" name="Rectangle 98">
            <a:extLst>
              <a:ext uri="{FF2B5EF4-FFF2-40B4-BE49-F238E27FC236}">
                <a16:creationId xmlns:a16="http://schemas.microsoft.com/office/drawing/2014/main" id="{F067CE09-C878-4E7B-D551-7808178D16BA}"/>
              </a:ext>
            </a:extLst>
          </p:cNvPr>
          <p:cNvSpPr/>
          <p:nvPr/>
        </p:nvSpPr>
        <p:spPr>
          <a:xfrm>
            <a:off x="835068" y="2710766"/>
            <a:ext cx="1552703" cy="1022064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Criar indicadores adicionais para monitorar qualidade (ex.: AUC-ROC, AUC-PR, MCC).</a:t>
            </a:r>
          </a:p>
        </p:txBody>
      </p:sp>
      <p:sp>
        <p:nvSpPr>
          <p:cNvPr id="26" name="Rectangle 98">
            <a:extLst>
              <a:ext uri="{FF2B5EF4-FFF2-40B4-BE49-F238E27FC236}">
                <a16:creationId xmlns:a16="http://schemas.microsoft.com/office/drawing/2014/main" id="{D2204F43-226F-2484-9BB7-44EE11B3827A}"/>
              </a:ext>
            </a:extLst>
          </p:cNvPr>
          <p:cNvSpPr/>
          <p:nvPr/>
        </p:nvSpPr>
        <p:spPr>
          <a:xfrm>
            <a:off x="4177544" y="2710766"/>
            <a:ext cx="1552703" cy="1005847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Criar fluxo periódico de comunicação dos resultados obtidos pelo modelo para o diretor de IA.</a:t>
            </a:r>
          </a:p>
        </p:txBody>
      </p:sp>
      <p:sp>
        <p:nvSpPr>
          <p:cNvPr id="28" name="Rectangle 98">
            <a:extLst>
              <a:ext uri="{FF2B5EF4-FFF2-40B4-BE49-F238E27FC236}">
                <a16:creationId xmlns:a16="http://schemas.microsoft.com/office/drawing/2014/main" id="{CEB78121-893F-9DB1-3A89-05B750C63D8B}"/>
              </a:ext>
            </a:extLst>
          </p:cNvPr>
          <p:cNvSpPr/>
          <p:nvPr/>
        </p:nvSpPr>
        <p:spPr>
          <a:xfrm>
            <a:off x="848923" y="3958747"/>
            <a:ext cx="1552703" cy="994809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Implementar um canal específico para sugestão e feedback dos usuários sobre o desempenho da ferramenta.</a:t>
            </a:r>
          </a:p>
        </p:txBody>
      </p:sp>
      <p:sp>
        <p:nvSpPr>
          <p:cNvPr id="29" name="Rectangle 98">
            <a:extLst>
              <a:ext uri="{FF2B5EF4-FFF2-40B4-BE49-F238E27FC236}">
                <a16:creationId xmlns:a16="http://schemas.microsoft.com/office/drawing/2014/main" id="{B0EC1CE9-2CAB-D9BE-93D4-2F738E116928}"/>
              </a:ext>
            </a:extLst>
          </p:cNvPr>
          <p:cNvSpPr/>
          <p:nvPr/>
        </p:nvSpPr>
        <p:spPr>
          <a:xfrm>
            <a:off x="2513539" y="2726983"/>
            <a:ext cx="1552703" cy="1005847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Definir claramente os critérios para reavaliação contínua das categorias (fatos, teses e ruídos) pelos especialistas jurídicos.</a:t>
            </a:r>
          </a:p>
        </p:txBody>
      </p:sp>
      <p:sp>
        <p:nvSpPr>
          <p:cNvPr id="32" name="Rectangle 98">
            <a:extLst>
              <a:ext uri="{FF2B5EF4-FFF2-40B4-BE49-F238E27FC236}">
                <a16:creationId xmlns:a16="http://schemas.microsoft.com/office/drawing/2014/main" id="{6A233C40-8143-6101-EA0C-6A6779A3ECA1}"/>
              </a:ext>
            </a:extLst>
          </p:cNvPr>
          <p:cNvSpPr/>
          <p:nvPr/>
        </p:nvSpPr>
        <p:spPr>
          <a:xfrm>
            <a:off x="835067" y="5251326"/>
            <a:ext cx="1552703" cy="994809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Explorar uso de modelos Large </a:t>
            </a:r>
            <a:r>
              <a:rPr lang="pt-BR" sz="900" dirty="0" err="1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Language</a:t>
            </a: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 Models (</a:t>
            </a:r>
            <a:r>
              <a:rPr lang="pt-BR" sz="900" dirty="0" err="1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LLMs</a:t>
            </a: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) adaptados ao contexto jurídico.</a:t>
            </a:r>
          </a:p>
        </p:txBody>
      </p:sp>
      <p:sp>
        <p:nvSpPr>
          <p:cNvPr id="33" name="Rectangle 98">
            <a:extLst>
              <a:ext uri="{FF2B5EF4-FFF2-40B4-BE49-F238E27FC236}">
                <a16:creationId xmlns:a16="http://schemas.microsoft.com/office/drawing/2014/main" id="{9F4A5FE3-4941-1E7B-70F9-68F7BCCA8978}"/>
              </a:ext>
            </a:extLst>
          </p:cNvPr>
          <p:cNvSpPr/>
          <p:nvPr/>
        </p:nvSpPr>
        <p:spPr>
          <a:xfrm>
            <a:off x="2499683" y="5265041"/>
            <a:ext cx="1552703" cy="1005847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Realizar testes de desempenho do modelo em diferentes ambientes (cloud e local) para otimizar custos e performance.</a:t>
            </a:r>
          </a:p>
        </p:txBody>
      </p:sp>
      <p:sp>
        <p:nvSpPr>
          <p:cNvPr id="34" name="Rectangle 98">
            <a:extLst>
              <a:ext uri="{FF2B5EF4-FFF2-40B4-BE49-F238E27FC236}">
                <a16:creationId xmlns:a16="http://schemas.microsoft.com/office/drawing/2014/main" id="{84B633B3-1533-C4A5-D32E-AA1B77714B14}"/>
              </a:ext>
            </a:extLst>
          </p:cNvPr>
          <p:cNvSpPr/>
          <p:nvPr/>
        </p:nvSpPr>
        <p:spPr>
          <a:xfrm>
            <a:off x="6814444" y="2696426"/>
            <a:ext cx="1155768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Treinamento do modelo com dados categorizados manualmente</a:t>
            </a:r>
          </a:p>
        </p:txBody>
      </p:sp>
      <p:sp>
        <p:nvSpPr>
          <p:cNvPr id="37" name="Rectangle 98">
            <a:extLst>
              <a:ext uri="{FF2B5EF4-FFF2-40B4-BE49-F238E27FC236}">
                <a16:creationId xmlns:a16="http://schemas.microsoft.com/office/drawing/2014/main" id="{0B89B6A6-D570-61DD-F33B-EF920DE7F092}"/>
              </a:ext>
            </a:extLst>
          </p:cNvPr>
          <p:cNvSpPr/>
          <p:nvPr/>
        </p:nvSpPr>
        <p:spPr>
          <a:xfrm>
            <a:off x="8113069" y="2689021"/>
            <a:ext cx="1272229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Equipe de IA/Equipe Jurídica</a:t>
            </a:r>
          </a:p>
        </p:txBody>
      </p:sp>
      <p:sp>
        <p:nvSpPr>
          <p:cNvPr id="40" name="Rectangle 98">
            <a:extLst>
              <a:ext uri="{FF2B5EF4-FFF2-40B4-BE49-F238E27FC236}">
                <a16:creationId xmlns:a16="http://schemas.microsoft.com/office/drawing/2014/main" id="{257CC254-F023-8BC5-EFCC-C38165C56513}"/>
              </a:ext>
            </a:extLst>
          </p:cNvPr>
          <p:cNvSpPr/>
          <p:nvPr/>
        </p:nvSpPr>
        <p:spPr>
          <a:xfrm>
            <a:off x="9528156" y="2689020"/>
            <a:ext cx="896722" cy="747384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Março/2025</a:t>
            </a:r>
          </a:p>
        </p:txBody>
      </p:sp>
      <p:sp>
        <p:nvSpPr>
          <p:cNvPr id="43" name="Rectangle 98">
            <a:extLst>
              <a:ext uri="{FF2B5EF4-FFF2-40B4-BE49-F238E27FC236}">
                <a16:creationId xmlns:a16="http://schemas.microsoft.com/office/drawing/2014/main" id="{3EFC90D3-1BDF-E3A8-3134-9556643E577B}"/>
              </a:ext>
            </a:extLst>
          </p:cNvPr>
          <p:cNvSpPr/>
          <p:nvPr/>
        </p:nvSpPr>
        <p:spPr>
          <a:xfrm>
            <a:off x="6815799" y="4303416"/>
            <a:ext cx="1155768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Implantação de pipeline automatizado para pré-processamento dos textos</a:t>
            </a:r>
          </a:p>
        </p:txBody>
      </p:sp>
      <p:sp>
        <p:nvSpPr>
          <p:cNvPr id="44" name="Rectangle 98">
            <a:extLst>
              <a:ext uri="{FF2B5EF4-FFF2-40B4-BE49-F238E27FC236}">
                <a16:creationId xmlns:a16="http://schemas.microsoft.com/office/drawing/2014/main" id="{74C3F697-045E-B58E-25E9-1C383AA25C78}"/>
              </a:ext>
            </a:extLst>
          </p:cNvPr>
          <p:cNvSpPr/>
          <p:nvPr/>
        </p:nvSpPr>
        <p:spPr>
          <a:xfrm>
            <a:off x="8133308" y="4303416"/>
            <a:ext cx="1251989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Equipe de IA</a:t>
            </a:r>
          </a:p>
        </p:txBody>
      </p:sp>
      <p:sp>
        <p:nvSpPr>
          <p:cNvPr id="46" name="Rectangle 98">
            <a:extLst>
              <a:ext uri="{FF2B5EF4-FFF2-40B4-BE49-F238E27FC236}">
                <a16:creationId xmlns:a16="http://schemas.microsoft.com/office/drawing/2014/main" id="{DFF7AF29-439D-355A-E332-05A6B8089335}"/>
              </a:ext>
            </a:extLst>
          </p:cNvPr>
          <p:cNvSpPr/>
          <p:nvPr/>
        </p:nvSpPr>
        <p:spPr>
          <a:xfrm>
            <a:off x="6814444" y="3507596"/>
            <a:ext cx="1155768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Validação e refinamento do modelo junto aos especialistas jurídicos</a:t>
            </a:r>
          </a:p>
        </p:txBody>
      </p:sp>
      <p:sp>
        <p:nvSpPr>
          <p:cNvPr id="47" name="Rectangle 98">
            <a:extLst>
              <a:ext uri="{FF2B5EF4-FFF2-40B4-BE49-F238E27FC236}">
                <a16:creationId xmlns:a16="http://schemas.microsoft.com/office/drawing/2014/main" id="{19D6325B-25C4-5F16-90F8-7EB8FCE32754}"/>
              </a:ext>
            </a:extLst>
          </p:cNvPr>
          <p:cNvSpPr/>
          <p:nvPr/>
        </p:nvSpPr>
        <p:spPr>
          <a:xfrm>
            <a:off x="8113069" y="3495650"/>
            <a:ext cx="1283700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Equipe de IA/Equipe Jurídica</a:t>
            </a:r>
          </a:p>
        </p:txBody>
      </p:sp>
      <p:sp>
        <p:nvSpPr>
          <p:cNvPr id="48" name="Rectangle 98">
            <a:extLst>
              <a:ext uri="{FF2B5EF4-FFF2-40B4-BE49-F238E27FC236}">
                <a16:creationId xmlns:a16="http://schemas.microsoft.com/office/drawing/2014/main" id="{D0D7D376-80AD-CB30-4734-C730A9A57BE1}"/>
              </a:ext>
            </a:extLst>
          </p:cNvPr>
          <p:cNvSpPr/>
          <p:nvPr/>
        </p:nvSpPr>
        <p:spPr>
          <a:xfrm>
            <a:off x="9539626" y="3513841"/>
            <a:ext cx="896722" cy="721787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Março/2025</a:t>
            </a:r>
          </a:p>
        </p:txBody>
      </p:sp>
      <p:sp>
        <p:nvSpPr>
          <p:cNvPr id="50" name="Rectangle 98">
            <a:extLst>
              <a:ext uri="{FF2B5EF4-FFF2-40B4-BE49-F238E27FC236}">
                <a16:creationId xmlns:a16="http://schemas.microsoft.com/office/drawing/2014/main" id="{DE5DFA1C-D4F1-C21D-A3DE-0A5C453EBCF4}"/>
              </a:ext>
            </a:extLst>
          </p:cNvPr>
          <p:cNvSpPr/>
          <p:nvPr/>
        </p:nvSpPr>
        <p:spPr>
          <a:xfrm>
            <a:off x="10790657" y="2696426"/>
            <a:ext cx="689982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50% </a:t>
            </a:r>
          </a:p>
        </p:txBody>
      </p:sp>
      <p:sp>
        <p:nvSpPr>
          <p:cNvPr id="51" name="Rectangle 98">
            <a:extLst>
              <a:ext uri="{FF2B5EF4-FFF2-40B4-BE49-F238E27FC236}">
                <a16:creationId xmlns:a16="http://schemas.microsoft.com/office/drawing/2014/main" id="{7DDA8CCB-2821-C268-FB45-1A8693BB11D8}"/>
              </a:ext>
            </a:extLst>
          </p:cNvPr>
          <p:cNvSpPr/>
          <p:nvPr/>
        </p:nvSpPr>
        <p:spPr>
          <a:xfrm>
            <a:off x="10790657" y="4308444"/>
            <a:ext cx="689982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Em teste</a:t>
            </a:r>
          </a:p>
        </p:txBody>
      </p:sp>
      <p:sp>
        <p:nvSpPr>
          <p:cNvPr id="52" name="Rectangle 98">
            <a:extLst>
              <a:ext uri="{FF2B5EF4-FFF2-40B4-BE49-F238E27FC236}">
                <a16:creationId xmlns:a16="http://schemas.microsoft.com/office/drawing/2014/main" id="{BCEC3257-0A79-420E-EEFC-4C62EBAF111F}"/>
              </a:ext>
            </a:extLst>
          </p:cNvPr>
          <p:cNvSpPr/>
          <p:nvPr/>
        </p:nvSpPr>
        <p:spPr>
          <a:xfrm>
            <a:off x="10790657" y="3507596"/>
            <a:ext cx="689982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90%</a:t>
            </a:r>
          </a:p>
        </p:txBody>
      </p:sp>
      <p:sp>
        <p:nvSpPr>
          <p:cNvPr id="57" name="Rectangle 98">
            <a:extLst>
              <a:ext uri="{FF2B5EF4-FFF2-40B4-BE49-F238E27FC236}">
                <a16:creationId xmlns:a16="http://schemas.microsoft.com/office/drawing/2014/main" id="{81C7147B-8D71-6A30-8308-C6D54AE27972}"/>
              </a:ext>
            </a:extLst>
          </p:cNvPr>
          <p:cNvSpPr/>
          <p:nvPr/>
        </p:nvSpPr>
        <p:spPr>
          <a:xfrm>
            <a:off x="4163689" y="5259980"/>
            <a:ext cx="1559957" cy="1005847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Implantação de alertas automáticos para queda de desempenho do modelo em produção</a:t>
            </a:r>
          </a:p>
        </p:txBody>
      </p:sp>
      <p:sp>
        <p:nvSpPr>
          <p:cNvPr id="60" name="Rectangle 98">
            <a:extLst>
              <a:ext uri="{FF2B5EF4-FFF2-40B4-BE49-F238E27FC236}">
                <a16:creationId xmlns:a16="http://schemas.microsoft.com/office/drawing/2014/main" id="{BBD646D0-85E5-0D04-8D61-517F4E835186}"/>
              </a:ext>
            </a:extLst>
          </p:cNvPr>
          <p:cNvSpPr/>
          <p:nvPr/>
        </p:nvSpPr>
        <p:spPr>
          <a:xfrm>
            <a:off x="6814444" y="5246579"/>
            <a:ext cx="1462781" cy="1163329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Criar uma base de conhecimento interna com documentação detalhada sobre o desenvolvimento, treinamento e manutenção contínua dos modelos de classificação automática.</a:t>
            </a:r>
          </a:p>
        </p:txBody>
      </p:sp>
      <p:sp>
        <p:nvSpPr>
          <p:cNvPr id="64" name="Rectangle 98">
            <a:extLst>
              <a:ext uri="{FF2B5EF4-FFF2-40B4-BE49-F238E27FC236}">
                <a16:creationId xmlns:a16="http://schemas.microsoft.com/office/drawing/2014/main" id="{F5E8156F-C916-C75D-AC27-B870C447FED0}"/>
              </a:ext>
            </a:extLst>
          </p:cNvPr>
          <p:cNvSpPr/>
          <p:nvPr/>
        </p:nvSpPr>
        <p:spPr>
          <a:xfrm>
            <a:off x="10790657" y="5241160"/>
            <a:ext cx="689982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30%</a:t>
            </a:r>
          </a:p>
        </p:txBody>
      </p:sp>
      <p:sp>
        <p:nvSpPr>
          <p:cNvPr id="30" name="Rectangle 98">
            <a:extLst>
              <a:ext uri="{FF2B5EF4-FFF2-40B4-BE49-F238E27FC236}">
                <a16:creationId xmlns:a16="http://schemas.microsoft.com/office/drawing/2014/main" id="{0AF00CD5-8C51-4FEA-B7F8-21B65C4C289D}"/>
              </a:ext>
            </a:extLst>
          </p:cNvPr>
          <p:cNvSpPr/>
          <p:nvPr/>
        </p:nvSpPr>
        <p:spPr>
          <a:xfrm>
            <a:off x="8312602" y="5259980"/>
            <a:ext cx="1283700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Equipe de IA/Equipe Jurídica</a:t>
            </a:r>
          </a:p>
        </p:txBody>
      </p:sp>
      <p:sp>
        <p:nvSpPr>
          <p:cNvPr id="31" name="Rectangle 98">
            <a:extLst>
              <a:ext uri="{FF2B5EF4-FFF2-40B4-BE49-F238E27FC236}">
                <a16:creationId xmlns:a16="http://schemas.microsoft.com/office/drawing/2014/main" id="{4ECD22BC-88B0-4867-98D1-39149F4A3A1B}"/>
              </a:ext>
            </a:extLst>
          </p:cNvPr>
          <p:cNvSpPr/>
          <p:nvPr/>
        </p:nvSpPr>
        <p:spPr>
          <a:xfrm>
            <a:off x="9654310" y="5259351"/>
            <a:ext cx="896722" cy="721787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Março/2025</a:t>
            </a:r>
          </a:p>
        </p:txBody>
      </p:sp>
      <p:sp>
        <p:nvSpPr>
          <p:cNvPr id="35" name="Rectangle 98">
            <a:extLst>
              <a:ext uri="{FF2B5EF4-FFF2-40B4-BE49-F238E27FC236}">
                <a16:creationId xmlns:a16="http://schemas.microsoft.com/office/drawing/2014/main" id="{110495FC-7492-4355-B05E-2858D4381FF5}"/>
              </a:ext>
            </a:extLst>
          </p:cNvPr>
          <p:cNvSpPr/>
          <p:nvPr/>
        </p:nvSpPr>
        <p:spPr>
          <a:xfrm>
            <a:off x="9528156" y="4337070"/>
            <a:ext cx="896722" cy="721787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Abril/2025</a:t>
            </a:r>
          </a:p>
        </p:txBody>
      </p:sp>
    </p:spTree>
    <p:extLst>
      <p:ext uri="{BB962C8B-B14F-4D97-AF65-F5344CB8AC3E}">
        <p14:creationId xmlns:p14="http://schemas.microsoft.com/office/powerpoint/2010/main" val="39484883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247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Nivaldo</dc:creator>
  <cp:lastModifiedBy>Júlio César Prado Souza Rodrigues</cp:lastModifiedBy>
  <cp:revision>14</cp:revision>
  <dcterms:created xsi:type="dcterms:W3CDTF">2020-05-22T19:36:46Z</dcterms:created>
  <dcterms:modified xsi:type="dcterms:W3CDTF">2025-03-31T12:10:38Z</dcterms:modified>
</cp:coreProperties>
</file>