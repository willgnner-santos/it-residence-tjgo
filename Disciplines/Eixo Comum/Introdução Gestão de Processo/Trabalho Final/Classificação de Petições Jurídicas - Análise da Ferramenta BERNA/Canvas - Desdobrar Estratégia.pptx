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0D82E5-D57C-4EA3-A4A5-3F809753A000}">
  <a:tblStyle styleId="{DF0D82E5-D57C-4EA3-A4A5-3F809753A00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625730" y="253649"/>
            <a:ext cx="86634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pt-BR" sz="1600"/>
              <a:t>Quadro: Desdobrar Estratégia por Processo</a:t>
            </a:r>
            <a:br>
              <a:rPr lang="pt-BR" sz="1275"/>
            </a:br>
            <a:r>
              <a:rPr b="1" lang="pt-BR" sz="2200"/>
              <a:t>OBJETIVO ESTRATÉGICO:                                                    INDICADOR ESTRATÉGICO</a:t>
            </a:r>
            <a:r>
              <a:rPr lang="pt-BR" sz="2200"/>
              <a:t>: </a:t>
            </a:r>
            <a:endParaRPr b="1" sz="2200"/>
          </a:p>
        </p:txBody>
      </p:sp>
      <p:graphicFrame>
        <p:nvGraphicFramePr>
          <p:cNvPr id="85" name="Google Shape;85;p13"/>
          <p:cNvGraphicFramePr/>
          <p:nvPr/>
        </p:nvGraphicFramePr>
        <p:xfrm>
          <a:off x="627529" y="8785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{DF0D82E5-D57C-4EA3-A4A5-3F809753A000}</a:tableStyleId>
              </a:tblPr>
              <a:tblGrid>
                <a:gridCol w="3667500"/>
                <a:gridCol w="3637675"/>
                <a:gridCol w="3697325"/>
              </a:tblGrid>
              <a:tr h="1222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500" u="none" cap="none" strike="noStrike"/>
                        <a:t>Iniciativas Estratégicas, Programas e Projetos</a:t>
                      </a:r>
                      <a:endParaRPr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500" u="none" cap="none" strike="noStrike"/>
                        <a:t>Processos Relacionados</a:t>
                      </a:r>
                      <a:endParaRPr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pt-BR" sz="2200" u="none" cap="none" strike="noStrike"/>
                        <a:t>Indicador de Processo (descrição - métrica - meta) </a:t>
                      </a:r>
                      <a:endParaRPr/>
                    </a:p>
                  </a:txBody>
                  <a:tcPr marT="34300" marB="34300" marR="68600" marL="68600"/>
                </a:tc>
              </a:tr>
              <a:tr h="99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99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99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solidFill>
                      <a:schemeClr val="lt1"/>
                    </a:solidFill>
                  </a:tcPr>
                </a:tc>
              </a:tr>
              <a:tr h="991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17" y="6363784"/>
            <a:ext cx="994027" cy="45524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 rot="-488">
            <a:off x="3949094" y="253786"/>
            <a:ext cx="2111700" cy="590700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Melhorar a eficiência e a precisão na classificação automática de textos jurídicos, separando corretamente fatos, teses e ruídos.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 rot="-222366">
            <a:off x="1319427" y="2305809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Desenvolver modelo de IA para classificação de textos jurídicos.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 rot="-443">
            <a:off x="9045299" y="278831"/>
            <a:ext cx="2328600" cy="540600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Acurácia da classificação automática nos textos jurídicos (Fato, Tese e Ruído).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4825330" y="1515559"/>
            <a:ext cx="359229" cy="201852"/>
          </a:xfrm>
          <a:prstGeom prst="roundRect">
            <a:avLst>
              <a:gd fmla="val 16667" name="adj"/>
            </a:avLst>
          </a:prstGeom>
          <a:solidFill>
            <a:srgbClr val="C7C7C7"/>
          </a:solidFill>
          <a:ln cap="flat" cmpd="sng" w="158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286159" y="1515559"/>
            <a:ext cx="359229" cy="201852"/>
          </a:xfrm>
          <a:prstGeom prst="roundRect">
            <a:avLst>
              <a:gd fmla="val 16667" name="adj"/>
            </a:avLst>
          </a:prstGeom>
          <a:solidFill>
            <a:srgbClr val="C7C7C7"/>
          </a:solidFill>
          <a:ln cap="flat" cmpd="sng" w="158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746988" y="1515559"/>
            <a:ext cx="359229" cy="201852"/>
          </a:xfrm>
          <a:prstGeom prst="roundRect">
            <a:avLst>
              <a:gd fmla="val 16667" name="adj"/>
            </a:avLst>
          </a:prstGeom>
          <a:solidFill>
            <a:srgbClr val="C7C7C7"/>
          </a:solidFill>
          <a:ln cap="flat" cmpd="sng" w="158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194471" y="1515559"/>
            <a:ext cx="359229" cy="201852"/>
          </a:xfrm>
          <a:prstGeom prst="roundRect">
            <a:avLst>
              <a:gd fmla="val 16667" name="adj"/>
            </a:avLst>
          </a:prstGeom>
          <a:solidFill>
            <a:srgbClr val="C7C7C7"/>
          </a:solidFill>
          <a:ln cap="flat" cmpd="sng" w="158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641955" y="1515559"/>
            <a:ext cx="359229" cy="201852"/>
          </a:xfrm>
          <a:prstGeom prst="roundRect">
            <a:avLst>
              <a:gd fmla="val 16667" name="adj"/>
            </a:avLst>
          </a:prstGeom>
          <a:solidFill>
            <a:srgbClr val="C7C7C7"/>
          </a:solidFill>
          <a:ln cap="flat" cmpd="sng" w="158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7074855" y="1515559"/>
            <a:ext cx="359229" cy="201852"/>
          </a:xfrm>
          <a:prstGeom prst="roundRect">
            <a:avLst>
              <a:gd fmla="val 16667" name="adj"/>
            </a:avLst>
          </a:prstGeom>
          <a:solidFill>
            <a:srgbClr val="C7C7C7"/>
          </a:solidFill>
          <a:ln cap="flat" cmpd="sng" w="158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4627625" y="1573660"/>
            <a:ext cx="102385" cy="85650"/>
          </a:xfrm>
          <a:prstGeom prst="ellipse">
            <a:avLst/>
          </a:prstGeom>
          <a:solidFill>
            <a:srgbClr val="92D050"/>
          </a:solidFill>
          <a:ln cap="flat" cmpd="sng" w="158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7523045" y="1573660"/>
            <a:ext cx="102385" cy="85650"/>
          </a:xfrm>
          <a:prstGeom prst="ellipse">
            <a:avLst/>
          </a:prstGeom>
          <a:solidFill>
            <a:srgbClr val="C00000"/>
          </a:solidFill>
          <a:ln cap="flat" cmpd="sng" w="158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3951991" y="2464413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7523045" y="2462470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3951991" y="3465285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7523045" y="3463342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3960725" y="4538089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7531779" y="4536146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3951991" y="5358411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7523045" y="5356468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6128777" y="92463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 rot="5400000">
            <a:off x="3808317" y="1193597"/>
            <a:ext cx="675634" cy="22729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ntendo Logotipo&#10;&#10;Descrição gerada automaticamente" id="108" name="Google Shape;1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77806" y="6434880"/>
            <a:ext cx="1445260" cy="31305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/>
          <p:nvPr/>
        </p:nvSpPr>
        <p:spPr>
          <a:xfrm rot="-222366">
            <a:off x="5158443" y="2283226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Treinar modelo com dados </a:t>
            </a:r>
            <a:r>
              <a:rPr lang="pt-BR" sz="900"/>
              <a:t>categorizados</a:t>
            </a: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manualmente.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 rot="-222366">
            <a:off x="8892382" y="2305809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Acurácia (%) no conjunto de teste</a:t>
            </a:r>
            <a:endParaRPr/>
          </a:p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95%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 rot="-222366">
            <a:off x="1319424" y="3317865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pipeline de pré-processamento textual.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 rot="-222366">
            <a:off x="5200003" y="3306683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Tokenizar e preparar os textos com modelo pré-treinado compatível.</a:t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3"/>
          <p:cNvSpPr/>
          <p:nvPr/>
        </p:nvSpPr>
        <p:spPr>
          <a:xfrm rot="-222366">
            <a:off x="8892383" y="3346652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Tempo médio por documento</a:t>
            </a:r>
            <a:endParaRPr/>
          </a:p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 2 segundos.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 rot="-222366">
            <a:off x="1326475" y="4296658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Validar e refinar o modelo com apoio de especialistas jurídicos.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 rot="-222366">
            <a:off x="5224137" y="4265838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Comparar previsões do modelo com especialistas.</a:t>
            </a:r>
            <a:endParaRPr/>
          </a:p>
        </p:txBody>
      </p:sp>
      <p:sp>
        <p:nvSpPr>
          <p:cNvPr id="116" name="Google Shape;116;p13"/>
          <p:cNvSpPr/>
          <p:nvPr/>
        </p:nvSpPr>
        <p:spPr>
          <a:xfrm rot="-222366">
            <a:off x="8892381" y="4229418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Percentual de concordância</a:t>
            </a:r>
            <a:endParaRPr/>
          </a:p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95%</a:t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 rot="-222366">
            <a:off x="1319424" y="5333287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Integrar a solução ao ambiente de produção jurídico.</a:t>
            </a:r>
            <a:endParaRPr/>
          </a:p>
        </p:txBody>
      </p:sp>
      <p:sp>
        <p:nvSpPr>
          <p:cNvPr id="118" name="Google Shape;118;p13"/>
          <p:cNvSpPr/>
          <p:nvPr/>
        </p:nvSpPr>
        <p:spPr>
          <a:xfrm rot="-222366">
            <a:off x="5298360" y="5268239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Colocar o modelo treinado em ambiente de produção para uso interno.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 rot="-222366">
            <a:off x="8892381" y="5203392"/>
            <a:ext cx="1940668" cy="540614"/>
          </a:xfrm>
          <a:prstGeom prst="rect">
            <a:avLst/>
          </a:prstGeom>
          <a:solidFill>
            <a:srgbClr val="FFFF8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53975" lIns="53975" spcFirstLastPara="1" rIns="53975" wrap="square" tIns="53975">
            <a:noAutofit/>
          </a:bodyPr>
          <a:lstStyle/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Nº documentos/dia classificados</a:t>
            </a:r>
            <a:endParaRPr/>
          </a:p>
          <a:p>
            <a:pPr indent="-114293" lvl="0" marL="142866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10.000.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